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71" r:id="rId11"/>
    <p:sldId id="264" r:id="rId12"/>
    <p:sldId id="272" r:id="rId13"/>
    <p:sldId id="273" r:id="rId14"/>
    <p:sldId id="274" r:id="rId15"/>
    <p:sldId id="266" r:id="rId16"/>
    <p:sldId id="269" r:id="rId17"/>
    <p:sldId id="267" r:id="rId18"/>
    <p:sldId id="268" r:id="rId19"/>
    <p:sldId id="270" r:id="rId20"/>
    <p:sldId id="265" r:id="rId21"/>
  </p:sldIdLst>
  <p:sldSz cx="18288000" cy="10287000"/>
  <p:notesSz cx="6858000" cy="9144000"/>
  <p:embeddedFontLst>
    <p:embeddedFont>
      <p:font typeface="Cambria" panose="02040503050406030204" pitchFamily="18" charset="0"/>
      <p:regular r:id="rId25"/>
      <p:bold r:id="rId26"/>
      <p:italic r:id="rId27"/>
      <p:boldItalic r:id="rId28"/>
    </p:embeddedFont>
    <p:embeddedFont>
      <p:font typeface="Bookman Old Style" panose="02050604050505020204" pitchFamily="18" charset="0"/>
      <p:regular r:id="rId29"/>
      <p:bold r:id="rId30"/>
      <p:italic r:id="rId31"/>
    </p:embeddedFont>
    <p:embeddedFont>
      <p:font typeface="Gotham"/>
      <p:regular r:id="rId32"/>
    </p:embeddedFont>
    <p:embeddedFont>
      <p:font typeface="Gotham Bold Italics" panose="02000000000000000000"/>
      <p:boldItalic r:id="rId33"/>
    </p:embeddedFont>
    <p:embeddedFont>
      <p:font typeface="Calibri" panose="020F0502020204030204" charset="0"/>
      <p:regular r:id="rId34"/>
      <p:bold r:id="rId35"/>
      <p:italic r:id="rId36"/>
      <p:boldItalic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51" d="100"/>
          <a:sy n="51" d="100"/>
        </p:scale>
        <p:origin x="29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7" Type="http://schemas.openxmlformats.org/officeDocument/2006/relationships/font" Target="fonts/font13.fntdata"/><Relationship Id="rId36" Type="http://schemas.openxmlformats.org/officeDocument/2006/relationships/font" Target="fonts/font12.fntdata"/><Relationship Id="rId35" Type="http://schemas.openxmlformats.org/officeDocument/2006/relationships/font" Target="fonts/font11.fntdata"/><Relationship Id="rId34" Type="http://schemas.openxmlformats.org/officeDocument/2006/relationships/font" Target="fonts/font10.fntdata"/><Relationship Id="rId33" Type="http://schemas.openxmlformats.org/officeDocument/2006/relationships/font" Target="fonts/font9.fntdata"/><Relationship Id="rId32" Type="http://schemas.openxmlformats.org/officeDocument/2006/relationships/font" Target="fonts/font8.fntdata"/><Relationship Id="rId31" Type="http://schemas.openxmlformats.org/officeDocument/2006/relationships/font" Target="fonts/font7.fntdata"/><Relationship Id="rId30" Type="http://schemas.openxmlformats.org/officeDocument/2006/relationships/font" Target="fonts/font6.fntdata"/><Relationship Id="rId3" Type="http://schemas.openxmlformats.org/officeDocument/2006/relationships/slide" Target="slides/slide1.xml"/><Relationship Id="rId29" Type="http://schemas.openxmlformats.org/officeDocument/2006/relationships/font" Target="fonts/font5.fntdata"/><Relationship Id="rId28" Type="http://schemas.openxmlformats.org/officeDocument/2006/relationships/font" Target="fonts/font4.fntdata"/><Relationship Id="rId27" Type="http://schemas.openxmlformats.org/officeDocument/2006/relationships/font" Target="fonts/font3.fntdata"/><Relationship Id="rId26" Type="http://schemas.openxmlformats.org/officeDocument/2006/relationships/font" Target="fonts/font2.fntdata"/><Relationship Id="rId25" Type="http://schemas.openxmlformats.org/officeDocument/2006/relationships/font" Target="fonts/font1.fntdata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.png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pic>
        <p:nvPicPr>
          <p:cNvPr id="23" name="Picture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  <a:endParaRPr lang="en-US" sz="36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727757" y="3897940"/>
            <a:ext cx="11190289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25-03-2026</a:t>
            </a:r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Full-Stack Skill Learning Academy Marketplace with Secure Authentication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93870" y="7800539"/>
            <a:ext cx="90678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  <a:endParaRPr lang="en-US" sz="3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IN" alt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B.SRIDHAR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– VTU2</a:t>
            </a:r>
            <a:r>
              <a:rPr lang="en-IN" alt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6553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– 23UECS0</a:t>
            </a:r>
            <a:r>
              <a:rPr lang="en-IN" alt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078</a:t>
            </a:r>
            <a:endParaRPr lang="en-IN" altLang="en-US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945035" y="7818586"/>
            <a:ext cx="6914603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  <a:endParaRPr lang="en-US" sz="3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M. MAGESHWARI – M.E, Ph.D.,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14981" y="7181398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No- 4 – Quality Education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2700" dirty="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175965" y="2484263"/>
            <a:ext cx="15163800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rapid growth of online education has increased the demand for centralized skill-learning platforms.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existing platforms are complex, expensive, or not user-friendly for beginners.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Learners need an easy way to discover, compare, and enroll in relevant courses.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streamlined marketplace improves accessibility to quality digital education.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systems support continuous learning and professional upskilling in the modern world.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focuses on creating a clean, responsive, and intuitive user interface.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browse courses, view detailed information, and simulate enrollments efficiently.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system demonstrates how a modern learning marketplace can enhance user engagement and learning experience.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Tx/>
              <a:buChar char="-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226191" y="2747232"/>
            <a:ext cx="15082325" cy="615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rapid expansion of online learning has made it difficult for users to find suitable skill-based courses efficiently.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existing platforms are cluttered, slow, or not designed with beginner-friendly navigation.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often face challenges in comparing courses, understanding details, and completing enrollment smoothly.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clean and responsive marketplace that simplifies course discovery.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systems may lack an intuitive interface that works well across devices.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Learners require a unified platform to browse, view, and select courses easily.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streamlined workflows, user engagement and learning adoption can decrease.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a modern Skill Learning Academy Marketplace is needed to provide an accessible and user-friendly course enrollment experience.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Tx/>
              <a:buChar char="-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2" name="TextBox 51"/>
          <p:cNvSpPr txBox="1"/>
          <p:nvPr/>
        </p:nvSpPr>
        <p:spPr>
          <a:xfrm>
            <a:off x="2176975" y="2444445"/>
            <a:ext cx="15082325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 modern Skill Learning Academy Marketplace that enables users to browse and explore courses through a responsive and user-friendly interface.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 secure and smooth user authentication simulation using local storage for login and signup functionality.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course discovery by providing search, filtering, and detailed course information features.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an automated enrollment and mock payment workflow for better user interaction.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the performance and responsiveness of the system across different devices and screen sizes.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the performance and responsiveness of the system across different devices and screen sizes.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enhance user experience through modern UI/UX design with smooth navigation and visual feedback.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code modularity and reusability using well-structured React components and routing.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95"/>
              </a:spcBef>
              <a:spcAft>
                <a:spcPts val="300"/>
              </a:spcAft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45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6" name="TextBox 45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154852" y="2245318"/>
            <a:ext cx="15082325" cy="6052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is a modern Skill Learning Academy Marketplace developed using React.js with a clean and responsive user interface.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centralized platform where users can easily browse, view, and enroll in skill-based courses.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solves existing issues by offering simple navigation, faster course discovery, and an intuitive enrollment workflow.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many complex platforms, this solution focuses on beginner-friendly design and smooth user interaction.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improves accessibility by being fully responsive across mobile, tablet, and desktop devices.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uses modular React components, making the system scalable and easy to maintain.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mock authentication and payment simulation allow safe testing without real transaction risks.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proposed system offers better usability, performance, and user experience compared to traditional learning platforms.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1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2" name="TextBox 41"/>
          <p:cNvSpPr txBox="1"/>
          <p:nvPr/>
        </p:nvSpPr>
        <p:spPr>
          <a:xfrm>
            <a:off x="366252" y="222722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6141" y="1206070"/>
            <a:ext cx="13399517" cy="4228869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2228351" y="5778552"/>
            <a:ext cx="13831297" cy="41626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accepts user actions such as signup, login, course search, and enrollment details through the web interface.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React components and routing handle user requests, perform price calculations, manage authentication simulation, and dynamically render the UI.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application uses static JSON files (coursesData.js) and browser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localStorage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temporarily store course and user-related data.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displays course listings, enrollment confirmations, payment status, and user dashboard information through a responsive interface.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46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7" name="TextBox 46"/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600" y="1101546"/>
            <a:ext cx="10668000" cy="54140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27934" y="6024247"/>
            <a:ext cx="1508232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Flow Diagram illustrates how user data moves through the Skill Learning Academy Marketplace system from input to final output.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shows the interaction between the user, core processes such as authentication and enrollment, and data stores like users, courses, and enrollments.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diagram helps in understanding how the system manages course browsing, login validation, and enrollment confirmation efficiently.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DFD provides a clear visual representation of the system workflow, improving system analysis, design clarity, and future scalability.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46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7" name="TextBox 46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821094" y="1442008"/>
            <a:ext cx="15049500" cy="6782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95"/>
              </a:spcBef>
              <a:spcAft>
                <a:spcPts val="300"/>
              </a:spcAft>
            </a:pPr>
            <a:r>
              <a:rPr lang="en-US" sz="2800" b="1" dirty="0"/>
              <a:t>Frontend:</a:t>
            </a:r>
            <a:endParaRPr lang="en-US" sz="2800" b="1" dirty="0"/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React.js (Functional Components, Hooks)</a:t>
            </a:r>
            <a:endParaRPr lang="en-US" sz="2800" dirty="0"/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2800" dirty="0"/>
              <a:t>React Router DOM</a:t>
            </a:r>
            <a:endParaRPr lang="en-IN" sz="2800" dirty="0"/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2800" dirty="0"/>
              <a:t>Tailwind CSS</a:t>
            </a:r>
            <a:endParaRPr lang="en-IN" sz="2800" dirty="0"/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2800" dirty="0"/>
              <a:t>HTML5, CSS3, JavaScript (ES6+)</a:t>
            </a:r>
            <a:endParaRPr lang="en-US" sz="2800" dirty="0"/>
          </a:p>
          <a:p>
            <a:pPr marL="457200" indent="-457200">
              <a:spcBef>
                <a:spcPts val="95"/>
              </a:spcBef>
              <a:spcAft>
                <a:spcPts val="300"/>
              </a:spcAft>
            </a:pPr>
            <a:r>
              <a:rPr lang="en-US" sz="2800" b="1" dirty="0"/>
              <a:t>Backend:</a:t>
            </a:r>
            <a:endParaRPr lang="en-US" sz="2800" b="1" dirty="0"/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2800" dirty="0"/>
              <a:t>Node.js</a:t>
            </a:r>
            <a:endParaRPr lang="en-IN" sz="2800" dirty="0"/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2800" dirty="0"/>
              <a:t>Express.js</a:t>
            </a:r>
            <a:endParaRPr lang="en-IN" sz="2800" dirty="0"/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2800" dirty="0"/>
              <a:t>RESTful API development</a:t>
            </a:r>
            <a:endParaRPr lang="en-US" sz="2800" dirty="0"/>
          </a:p>
          <a:p>
            <a:pPr marL="457200" indent="-457200">
              <a:spcBef>
                <a:spcPts val="95"/>
              </a:spcBef>
              <a:spcAft>
                <a:spcPts val="300"/>
              </a:spcAft>
            </a:pPr>
            <a:r>
              <a:rPr lang="en-US" sz="2800" b="1" dirty="0"/>
              <a:t>Database:</a:t>
            </a:r>
            <a:endParaRPr lang="en-US" sz="2800" b="1" dirty="0"/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Firebase</a:t>
            </a:r>
            <a:endParaRPr lang="en-US" sz="2800" dirty="0"/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2800" dirty="0"/>
              <a:t>User Collection</a:t>
            </a:r>
            <a:endParaRPr lang="en-IN" sz="2800" dirty="0"/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2800" dirty="0"/>
              <a:t>Courses Collection</a:t>
            </a:r>
            <a:endParaRPr lang="en-IN" sz="2800" dirty="0"/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2800" dirty="0"/>
              <a:t>Enrollments Collection</a:t>
            </a:r>
            <a:endParaRPr lang="en-IN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19200" y="2019300"/>
            <a:ext cx="15392400" cy="4066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95"/>
              </a:spcBef>
              <a:spcAft>
                <a:spcPts val="300"/>
              </a:spcAft>
            </a:pPr>
            <a:endParaRPr lang="en-US" sz="2800" dirty="0"/>
          </a:p>
          <a:p>
            <a:pPr marL="457200" indent="-457200">
              <a:spcBef>
                <a:spcPts val="95"/>
              </a:spcBef>
              <a:spcAft>
                <a:spcPts val="300"/>
              </a:spcAft>
            </a:pPr>
            <a:r>
              <a:rPr lang="en-US" sz="2800" b="1" dirty="0"/>
              <a:t>Hardware/Software Requirements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</a:pPr>
            <a:endParaRPr lang="en-US" sz="1800" b="1" dirty="0"/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4 GB RAM, Dual-Core Processor</a:t>
            </a:r>
            <a:endParaRPr lang="pt-B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Windows/Linux/macOS Operating System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Web Browser (Chrome/Edge/Firefox)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Node.js installed for development</a:t>
            </a:r>
            <a:endParaRPr lang="en-US" sz="2800" dirty="0"/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Internet connection for deployment and package installation</a:t>
            </a:r>
            <a:endParaRPr lang="en-US" sz="1800" dirty="0"/>
          </a:p>
          <a:p>
            <a:pPr marL="457200" indent="-457200">
              <a:spcBef>
                <a:spcPts val="95"/>
              </a:spcBef>
              <a:spcAft>
                <a:spcPts val="300"/>
              </a:spcAft>
            </a:pPr>
            <a:endParaRPr lang="en-US" sz="1800" dirty="0"/>
          </a:p>
        </p:txBody>
      </p:sp>
      <p:sp>
        <p:nvSpPr>
          <p:cNvPr id="9" name="TextBox 8"/>
          <p:cNvSpPr txBox="1"/>
          <p:nvPr/>
        </p:nvSpPr>
        <p:spPr>
          <a:xfrm>
            <a:off x="4114800" y="390108"/>
            <a:ext cx="9144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758778" y="2563162"/>
            <a:ext cx="15082325" cy="4380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95"/>
              </a:spcBef>
              <a:spcAft>
                <a:spcPts val="300"/>
              </a:spcAft>
            </a:pP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Management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</a:pPr>
            <a:endParaRPr lang="en-IN" sz="2800" b="1" dirty="0"/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user registration with input validation.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user login and logout functionality.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Simulates secure authentication using local storage.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user session state during application usage.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view and manage basic profile details.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protected access to enrollment and dashboard pages</a:t>
            </a:r>
            <a:r>
              <a:rPr lang="en-US" sz="2800" dirty="0"/>
              <a:t>.</a:t>
            </a:r>
            <a:endParaRPr lang="en-IN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05000" y="3009900"/>
            <a:ext cx="12877800" cy="4811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95"/>
              </a:spcBef>
              <a:spcAft>
                <a:spcPts val="300"/>
              </a:spcAft>
            </a:pP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Core Processing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</a:pP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user inputs such as search, enrollment, and payment details.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business logic for course selection and navigation.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total enrollment cost based on selected quantity.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routing between different pages using React Router.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Controls application state using React hooks. Ensures smooth workflow from browsing to confirmation.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</a:pP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52400" y="5715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14600" y="3086100"/>
            <a:ext cx="11734800" cy="3898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95"/>
              </a:spcBef>
              <a:spcAft>
                <a:spcPts val="300"/>
              </a:spcAft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Database Management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</a:pP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course information using static JSON data.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user and enrollment data in browser local storage.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Retrieves stored data for dashboard and confirmation display.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data consistency during user interactions.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temporary storage without external database integration.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structured data handling for scalability.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571500" y="1104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828800" y="3194248"/>
            <a:ext cx="12268200" cy="3898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95"/>
              </a:spcBef>
              <a:spcAft>
                <a:spcPts val="300"/>
              </a:spcAft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Reporting &amp; Analytics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</a:pP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enrollment confirmation details to users.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summary of selected courses and total payment.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user dashboard with enrolled course information.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basic user activity within the application.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Presents data in a clear and organized format.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evaluation of system usability and performance.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9832" y="8001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2400" b="1" dirty="0">
                <a:solidFill>
                  <a:srgbClr val="002060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057401" y="1982349"/>
            <a:ext cx="8981962" cy="6432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95"/>
              </a:spcBef>
              <a:spcAft>
                <a:spcPts val="300"/>
              </a:spcAft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Page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Home Page serves as the landing page of the Skill Learning Academy Marketplace.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features an eye-catching hero section with a tagline highlighting skill development and learning opportunities.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search bar is provided to help users quickly find relevant courses.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page displays featured courses with images, titles, prices, and duration details.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smooth navigation to course listing, login, and signup pages.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layout is fully responsive and designed with a modern, user-friendly interface to enhance user engagement.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9675" y="1866900"/>
            <a:ext cx="5641975" cy="71272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  <a:endParaRPr lang="en-US" sz="2400" b="1" dirty="0">
                <a:solidFill>
                  <a:srgbClr val="002060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40616" y="2114184"/>
            <a:ext cx="10268977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95"/>
              </a:spcBef>
              <a:spcAft>
                <a:spcPts val="300"/>
              </a:spcAft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Signup Page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Signup Page allows new users to create an account on the Skill Learning Academy Marketplace.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contains input fields such as full name, email address, password, and confirm password.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 validation ensures that all required fields are correctly filled before submission.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 confirmation helps prevent user input errors.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details are stored in local storage to simulate authentication.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successful registration, users are redirected to the login page to access their account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1670" y="1809750"/>
            <a:ext cx="5706745" cy="6667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  <a:endParaRPr lang="en-US" sz="2400" b="1" dirty="0">
                <a:solidFill>
                  <a:srgbClr val="002060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54587" y="2247900"/>
            <a:ext cx="9110413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95"/>
              </a:spcBef>
              <a:spcAft>
                <a:spcPts val="300"/>
              </a:spcAft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Profile Page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Profile Page displays the registered user’s personal information such as name and email.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users to view their account details after successful login.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page retrieves user data from local storage for display.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an organized layout for better readability of user information.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navigate to enrolled courses or dashboard from this page.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design is responsive and maintains a clean, user-friendly interface.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7450" y="1981200"/>
            <a:ext cx="6314440" cy="764095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  <a:endParaRPr lang="en-US" sz="2400" b="1" dirty="0">
                <a:solidFill>
                  <a:srgbClr val="002060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95875" y="2011264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071911" y="2453059"/>
            <a:ext cx="10018507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95"/>
              </a:spcBef>
              <a:spcAft>
                <a:spcPts val="300"/>
              </a:spcAft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Enrollment Successful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Enrollment Successful page confirms that the user has successfully enrolled in the selected course.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displays important details such as course name, user name, number of seats, and total amount paid.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unique booking or enrollment ID is generated for reference.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page provides a clear confirmation message to assure the user of successful processing.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may include options to view enrolled courses or navigate to the dashboard.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layout is designed in a modern card style to enhance clarity and user satisfaction.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61097" y="2176118"/>
            <a:ext cx="14045782" cy="7273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95"/>
              </a:spcBef>
              <a:spcAft>
                <a:spcPts val="300"/>
              </a:spcAft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clean and user-friendly interface for easy course browsing.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 responsive design compatible with mobile, tablet, and desktop devices.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smooth enrollment workflow improves user experience.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modular React components, making the system scalable and maintainable.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performance due to frontend-based processing.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 testing environment with mock authentication and payment simulation.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real backend integration for secure data handling.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stored only in local storage, which is not suitable for large-scale systems.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Mock payment system does not support real financial transactions.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real-time database updates or multi-user synchronization.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security compared to full-stack applications.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95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suitable for production-level deployment without backend enhancement.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50"/>
              </a:lnSpc>
            </a:pPr>
            <a:r>
              <a:rPr lang="en-US" sz="11155" b="1" i="1" dirty="0">
                <a:solidFill>
                  <a:srgbClr val="191919"/>
                </a:solidFill>
                <a:latin typeface="Gotham Bold Italics" panose="02000000000000000000"/>
                <a:ea typeface="Gotham Bold Italics" panose="02000000000000000000"/>
                <a:cs typeface="Gotham Bold Italics" panose="02000000000000000000"/>
                <a:sym typeface="Gotham Bold Italics" panose="02000000000000000000"/>
              </a:rPr>
              <a:t>Thank you</a:t>
            </a:r>
            <a:endParaRPr lang="en-US" sz="11155" b="1" i="1" dirty="0">
              <a:solidFill>
                <a:srgbClr val="191919"/>
              </a:solidFill>
              <a:latin typeface="Gotham Bold Italics" panose="02000000000000000000"/>
              <a:ea typeface="Gotham Bold Italics" panose="02000000000000000000"/>
              <a:cs typeface="Gotham Bold Italics" panose="02000000000000000000"/>
              <a:sym typeface="Gotham Bold Italics" panose="02000000000000000000"/>
            </a:endParaRP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10059</Words>
  <Application>WPS Presentation</Application>
  <PresentationFormat>Custom</PresentationFormat>
  <Paragraphs>462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1" baseType="lpstr">
      <vt:lpstr>Arial</vt:lpstr>
      <vt:lpstr>SimSun</vt:lpstr>
      <vt:lpstr>Wingdings</vt:lpstr>
      <vt:lpstr>Cambria</vt:lpstr>
      <vt:lpstr>Bookman Old Style</vt:lpstr>
      <vt:lpstr>Times New Roman</vt:lpstr>
      <vt:lpstr>Gotham</vt:lpstr>
      <vt:lpstr>Gotham Bold Italics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vikash</dc:creator>
  <cp:lastModifiedBy>Lokesh chowdary Battula</cp:lastModifiedBy>
  <cp:revision>20</cp:revision>
  <dcterms:created xsi:type="dcterms:W3CDTF">2006-08-16T00:00:00Z</dcterms:created>
  <dcterms:modified xsi:type="dcterms:W3CDTF">2026-03-24T16:29:31Z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673763372F584F3FBE7C12AAC9B50085_13</vt:lpwstr>
  </property>
  <property fmtid="{D5CDD505-2E9C-101B-9397-08002B2CF9AE}" pid="3" name="KSOProductBuildVer">
    <vt:lpwstr>1033-12.2.0.23196</vt:lpwstr>
  </property>
</Properties>
</file>